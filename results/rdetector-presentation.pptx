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329184"/>
          </a:xfrm>
          <a:prstGeom prst="roundRect">
            <a:avLst>
              <a:gd name="adj" fmla="val 15000"/>
            </a:avLst>
          </a:prstGeom>
          <a:solidFill>
            <a:srgbClr val="2819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97316"/>
                </a:solidFill>
                <a:latin typeface="Calibri"/>
              </a:defRPr>
            </a:pPr>
            <a:r>
              <a:t>Контроль корпоративных перевозок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Перевозки сотрудников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  <a:latin typeface="Calibri"/>
              </a:defRPr>
            </a:pPr>
            <a:r>
              <a:t>под полный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Сократите расходы на перевозки до 40%, исключите нецелевое использование</a:t>
            </a:r>
            <a:br/>
            <a:r>
              <a:t>транспорта и получайте объективные данные по каждому рейсу, маршруту и борту.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до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3"/>
                </a:solidFill>
                <a:latin typeface="Calibri"/>
              </a:defRPr>
            </a:pPr>
            <a:r>
              <a:t>экономия бюджета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3"/>
                </a:solidFill>
                <a:latin typeface="Calibri"/>
              </a:defRPr>
            </a:pPr>
            <a:r>
              <a:t>крупных клиентов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2 млн+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3"/>
                </a:solidFill>
                <a:latin typeface="Calibri"/>
              </a:defRPr>
            </a:pPr>
            <a:r>
              <a:t>пассажиров / 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3"/>
                </a:solidFill>
                <a:latin typeface="Calibri"/>
              </a:defRPr>
            </a:pPr>
            <a:r>
              <a:t>точность учёта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Ценность для бизнеса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350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Срывы поставок персонала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910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Сотрудник не приехал вовремя — встало производство, задержалась смена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29968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848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Переплата за пустые рейсы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408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Автобус едет полупустой — аренда, ГСМ, диспетчер впустую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79776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Нарушения безопасности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90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Стоячие и непристёгнутые пассажиры, посторонние в салоне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9584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027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844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Нет объективных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Нечем обосновать бюджет, оценить загрузку и эффективность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280160"/>
            <a:ext cx="4846320" cy="4846320"/>
          </a:xfrm>
          <a:prstGeom prst="roundRect">
            <a:avLst>
              <a:gd name="adj" fmla="val 12000"/>
            </a:avLst>
          </a:prstGeom>
          <a:solidFill>
            <a:srgbClr val="19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Что даёт RDETECTOR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Точный учёт пассажиров на каждой остановке — никаких «зайцев»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50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Плановая выручка по маршрутам, бортам и дням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895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Видеоконтроль салона — фиксация всех нарушений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284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История рейсов с аналитикой каждого фрагмента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67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Рекомендации по оптимизации — какие рейсы убрать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389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7316"/>
                </a:solidFill>
                <a:latin typeface="Calibri"/>
              </a:defRPr>
            </a:pPr>
            <a:r>
              <a:t>✓  До 40% экономии бюджета на перевозки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Результаты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Более 15 крупных заказчиков уже управляют перевозками с RDETECTOR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до 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9E"/>
                </a:solidFill>
                <a:latin typeface="Calibri"/>
              </a:defRPr>
            </a:pPr>
            <a:r>
              <a:t>экономия бюджета</a:t>
            </a:r>
            <a:br/>
            <a:r>
              <a:t>на перевозки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9E"/>
                </a:solidFill>
                <a:latin typeface="Calibri"/>
              </a:defRPr>
            </a:pPr>
            <a:r>
              <a:t>точность учёта</a:t>
            </a:r>
            <a:br/>
            <a:r>
              <a:t>пассажиров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9E"/>
                </a:solidFill>
                <a:latin typeface="Calibri"/>
              </a:defRPr>
            </a:pPr>
            <a:r>
              <a:t>крупных корпоративных</a:t>
            </a:r>
            <a:br/>
            <a:r>
              <a:t>клиентов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468880" cy="25603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2 млн+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9E"/>
                </a:solidFill>
                <a:latin typeface="Calibri"/>
              </a:defRPr>
            </a:pPr>
            <a:r>
              <a:t>пассажиров</a:t>
            </a:r>
            <a:br/>
            <a:r>
              <a:t>ежемесячно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Кейсы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Реальные результаты компаний, которые уже используют RDETECTOR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9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468880"/>
            <a:ext cx="1097280" cy="237744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97316"/>
                </a:solidFill>
                <a:latin typeface="Calibri"/>
              </a:defRPr>
            </a:pPr>
            <a:r>
              <a:t>Промышленность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Металлургический завод</a:t>
            </a:r>
            <a:br/>
            <a:r>
              <a:t>сократил расходы на 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2 300 сотрудников, 14 маршрутов, 3 смены.</a:t>
            </a:r>
            <a:br/>
            <a:r>
              <a:t>Выявили 6 рейсов с загрузкой &lt; 15%.</a:t>
            </a:r>
            <a:br/>
            <a:r>
              <a:t>Окупаемость — 4 месяца.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9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468880"/>
            <a:ext cx="1097280" cy="237744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688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97316"/>
                </a:solidFill>
                <a:latin typeface="Calibri"/>
              </a:defRPr>
            </a:pPr>
            <a:r>
              <a:t>Торговля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Сеть РЦ исключила</a:t>
            </a:r>
            <a:br/>
            <a:r>
              <a:t>переплату за транспорт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1 200 сотрудников, круглосуточные смены.</a:t>
            </a:r>
            <a:br/>
            <a:r>
              <a:t>40% рейсов перевели на автобусы</a:t>
            </a:r>
            <a:br/>
            <a:r>
              <a:t>меньшей вместимости.</a:t>
            </a:r>
            <a:br/>
            <a:r>
              <a:t>Экономия 4,2 млн ₽/год.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9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468880"/>
            <a:ext cx="1097280" cy="237744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97316"/>
                </a:solidFill>
                <a:latin typeface="Calibri"/>
              </a:defRPr>
            </a:pPr>
            <a:r>
              <a:t>Строительство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Вахтовые перевозки —</a:t>
            </a:r>
            <a:br/>
            <a:r>
              <a:t>полный контроль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650 сотрудников, 8 удалённых объектов.</a:t>
            </a:r>
            <a:br/>
            <a:r>
              <a:t>Загрузка каждого рейса</a:t>
            </a:r>
            <a:br/>
            <a:r>
              <a:t>в реальном времени — срывов нет.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Возможности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Инструменты для полного контроля и управления затратами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Учёт пассажиропотока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Автоматический подсчёт вошедших</a:t>
            </a:r>
            <a:br/>
            <a:r>
              <a:t>и вышедших на каждой остановке.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Прогноз выручки и затрат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Плановые показатели по маршрутам</a:t>
            </a:r>
            <a:br/>
            <a:r>
              <a:t>с учётом стоимости по зонам.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Контроль безопасности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Съёмка салона, фиксация стоячих,</a:t>
            </a:r>
            <a:br/>
            <a:r>
              <a:t>непристёгнутых, посторонних лиц.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Маршруты и зонирование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Настройка маршрутов в обе стороны.</a:t>
            </a:r>
            <a:br/>
            <a:r>
              <a:t>Разная или единая стоимость по зонам.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2336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Исключение нецелевого использования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Выявление посторонних лиц в салоне.</a:t>
            </a:r>
            <a:br/>
            <a:r>
              <a:t>Транспорт только для сотрудников.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2336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Отчёты для руководства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Дашборды: загрузка рейсов,</a:t>
            </a:r>
            <a:br/>
            <a:r>
              <a:t>эффективность маршрутов.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Минимум вмешательства — максимум данных для управления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92024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Установка</a:t>
            </a:r>
            <a:br/>
            <a:r>
              <a:t>оборудования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0B0"/>
                </a:solidFill>
                <a:latin typeface="Calibri"/>
              </a:defRPr>
            </a:pPr>
            <a:r>
              <a:t>Монтируем видеорегистраторы</a:t>
            </a:r>
            <a:br/>
            <a:r>
              <a:t>в салоне. Работают 24/7.</a:t>
            </a:r>
            <a:br/>
            <a:r>
              <a:t>Встраиваются в парк.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468880" cy="411480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92024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Автоматическая</a:t>
            </a:r>
            <a:br/>
            <a:r>
              <a:t>фиксация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0B0"/>
                </a:solidFill>
                <a:latin typeface="Calibri"/>
              </a:defRPr>
            </a:pPr>
            <a:r>
              <a:t>При открытии двери система</a:t>
            </a:r>
            <a:br/>
            <a:r>
              <a:t>фиксирует фрагмент.</a:t>
            </a:r>
            <a:br/>
            <a:r>
              <a:t>Без участия водителя.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468880" cy="411480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192024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Сводка в личном</a:t>
            </a:r>
            <a:br/>
            <a:r>
              <a:t>кабинете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0B0"/>
                </a:solidFill>
                <a:latin typeface="Calibri"/>
              </a:defRPr>
            </a:pPr>
            <a:r>
              <a:t>Данные в панели управления.</a:t>
            </a:r>
            <a:br/>
            <a:r>
              <a:t>Загрузка по рейсам,</a:t>
            </a:r>
            <a:br/>
            <a:r>
              <a:t>маршрутам, дням онлайн.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468880" cy="411480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4120" y="192024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Управленческие</a:t>
            </a:r>
            <a:br/>
            <a:r>
              <a:t>решения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0B0"/>
                </a:solidFill>
                <a:latin typeface="Calibri"/>
              </a:defRPr>
            </a:pPr>
            <a:r>
              <a:t>Прогноз выручки, отчёты,</a:t>
            </a:r>
            <a:br/>
            <a:r>
              <a:t>рекомендации по оптимизации</a:t>
            </a:r>
            <a:br/>
            <a:r>
              <a:t>расписания и маршрутов.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Отраслевые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Закрываем потребности бизнеса любого масштаба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Промышленность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Заводы с многосменным графиком</a:t>
            </a:r>
            <a:br/>
            <a:r>
              <a:t>и строгими требованиями к безопасности.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Строительство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Вахтовые перевозки на удалённые</a:t>
            </a:r>
            <a:br/>
            <a:r>
              <a:t>объекты. Оптимизация маршрутов.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Торговля и пр-во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Доставка персонала на склады</a:t>
            </a:r>
            <a:br/>
            <a:r>
              <a:t>и производства. Прогноз затрат.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Госсектор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Соответствие нормативам, прозрачная</a:t>
            </a:r>
            <a:br/>
            <a:r>
              <a:t>отчётность для контролирующих органов.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319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IT и сервис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Развозка офисных сотрудников.</a:t>
            </a:r>
            <a:br/>
            <a:r>
              <a:t>Гибкое планирование под загрузку.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Логистика и почта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B0"/>
                </a:solidFill>
                <a:latin typeface="Calibri"/>
              </a:defRPr>
            </a:pPr>
            <a:r>
              <a:t>Круглосуточный трафик.</a:t>
            </a:r>
            <a:br/>
            <a:r>
              <a:t>Максимальная загрузка каждого рейса.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Кастомная отчётность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Нужны нестандартные данные? Вы говорите — мы делаем отчёт в нужном формате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Поддерживаемые форматы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1031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121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031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121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1С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21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Power 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Google Sheets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5603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XML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56032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81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97316"/>
                </a:solidFill>
                <a:latin typeface="Calibri"/>
              </a:defRPr>
            </a:pPr>
            <a: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  <a:latin typeface="Calibri"/>
              </a:defRPr>
            </a:pPr>
            <a:r>
              <a:t>Вы просто говорите, какие данные нужны и в каком</a:t>
            </a:r>
            <a:br/>
            <a:r>
              <a:t>формате, — мы настраиваем выгрузку.</a:t>
            </a:r>
            <a:br/>
            <a:r>
              <a:t>Разово или на регулярной основе.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645920"/>
            <a:ext cx="5029200" cy="4389120"/>
          </a:xfrm>
          <a:prstGeom prst="roundRect">
            <a:avLst>
              <a:gd name="adj" fmla="val 10000"/>
            </a:avLst>
          </a:prstGeom>
          <a:solidFill>
            <a:srgbClr val="14141E"/>
          </a:solidFill>
          <a:ln>
            <a:solidFill>
              <a:srgbClr val="28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B8B9E"/>
                </a:solidFill>
                <a:latin typeface="Calibri"/>
              </a:defRPr>
            </a:pPr>
            <a:r>
              <a:t>ПРИМЕРЫ ЗАПРОСОВ КЛИЕНТОВ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40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2402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Завод по производству металла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14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8B9E"/>
                </a:solidFill>
                <a:latin typeface="Calibri"/>
              </a:defRPr>
            </a:pPr>
            <a:r>
              <a:t>«Отчёт по каждому маршруту: рейсы, загрузка,</a:t>
            </a:r>
            <a:br/>
            <a:r>
              <a:t>расходы за месяц. Присылайте в Excel по пятницам.»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108960"/>
            <a:ext cx="4389120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  <a:latin typeface="Calibri"/>
              </a:defRPr>
            </a:pPr>
            <a:r>
              <a:t>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00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Сеть распределительных центров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474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8B9E"/>
                </a:solidFill>
                <a:latin typeface="Calibri"/>
              </a:defRPr>
            </a:pPr>
            <a:r>
              <a:t>«Выборка по сотрудникам ночных смен</a:t>
            </a:r>
            <a:br/>
            <a:r>
              <a:t>за квартал в PDF для передачи в бухгалтерию.»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069080"/>
            <a:ext cx="4389120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605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Строительная компания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8B9E"/>
                </a:solidFill>
                <a:latin typeface="Calibri"/>
              </a:defRPr>
            </a:pPr>
            <a:r>
              <a:t>«Интегрируйте выгрузку по пассажиропотоку</a:t>
            </a:r>
            <a:br/>
            <a:r>
              <a:t>в нашу 1С — данные автоматически.»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5029200"/>
            <a:ext cx="4389120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120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1206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Госкорпорация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394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8B9E"/>
                </a:solidFill>
                <a:latin typeface="Calibri"/>
              </a:defRPr>
            </a:pPr>
            <a:r>
              <a:t>«Регламентированный отчёт для Минтранса</a:t>
            </a:r>
            <a:br/>
            <a:r>
              <a:t>по утверждённой форме, помесячно.»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589520" cy="4114800"/>
          </a:xfrm>
          <a:prstGeom prst="roundRect">
            <a:avLst>
              <a:gd name="adj" fmla="val 15000"/>
            </a:avLst>
          </a:prstGeom>
          <a:solidFill>
            <a:srgbClr val="19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Получите коммерческое предложение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2860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Оставьте заявку — мы подготовим расчёт экономии</a:t>
            </a:r>
            <a:br/>
            <a:r>
              <a:t>для вашего автопарка и покажем систему в работе.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📧  info@rdetector.ru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📞  +7 (495) 000-00-00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🌐  rdetector.ru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Связаться с нами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0175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4903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Calibri"/>
              </a:defRPr>
            </a:pPr>
            <a:r>
              <a:t>Готовы обсудить ваш автопарк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info@rdetector.ru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9E"/>
                </a:solidFill>
                <a:latin typeface="Calibri"/>
              </a:defRPr>
            </a:pPr>
            <a:r>
              <a:t>📞 +7 (495) 000-00-00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9E"/>
                </a:solidFill>
                <a:latin typeface="Calibri"/>
              </a:defRPr>
            </a:pPr>
            <a:r>
              <a:t>🌐 rdetector.ru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6350"/>
          </a:xfrm>
          <a:prstGeom prst="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3"/>
                </a:solidFill>
                <a:latin typeface="Calibri"/>
              </a:defRPr>
            </a:pPr>
            <a:r>
              <a:t>RDETECTOR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3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